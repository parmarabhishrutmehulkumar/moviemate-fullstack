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5" r:id="rId3"/>
    <p:sldId id="260" r:id="rId4"/>
    <p:sldId id="267" r:id="rId5"/>
    <p:sldId id="258" r:id="rId6"/>
    <p:sldId id="259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73B5"/>
    <a:srgbClr val="465A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3D61-CEB9-49A4-9732-91D07E63D294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332B-3719-4328-B6A1-1EBF3E86FE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114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3D61-CEB9-49A4-9732-91D07E63D294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332B-3719-4328-B6A1-1EBF3E86FE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307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3D61-CEB9-49A4-9732-91D07E63D294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332B-3719-4328-B6A1-1EBF3E86FE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526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3D61-CEB9-49A4-9732-91D07E63D294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332B-3719-4328-B6A1-1EBF3E86FE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894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3D61-CEB9-49A4-9732-91D07E63D294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332B-3719-4328-B6A1-1EBF3E86FE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23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3D61-CEB9-49A4-9732-91D07E63D294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332B-3719-4328-B6A1-1EBF3E86FE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847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3D61-CEB9-49A4-9732-91D07E63D294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332B-3719-4328-B6A1-1EBF3E86FE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430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3D61-CEB9-49A4-9732-91D07E63D294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332B-3719-4328-B6A1-1EBF3E86FE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94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3D61-CEB9-49A4-9732-91D07E63D294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332B-3719-4328-B6A1-1EBF3E86FE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153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3D61-CEB9-49A4-9732-91D07E63D294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332B-3719-4328-B6A1-1EBF3E86FE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85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3D61-CEB9-49A4-9732-91D07E63D294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4332B-3719-4328-B6A1-1EBF3E86FE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8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D3D61-CEB9-49A4-9732-91D07E63D294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4332B-3719-4328-B6A1-1EBF3E86FE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392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BEE3-D9FC-E208-1511-D17E2DCDA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23991" y="1447422"/>
            <a:ext cx="6683022" cy="1114228"/>
          </a:xfrm>
        </p:spPr>
        <p:txBody>
          <a:bodyPr/>
          <a:lstStyle/>
          <a:p>
            <a:r>
              <a:rPr lang="en-IN" b="1" u="sng" dirty="0" err="1">
                <a:solidFill>
                  <a:schemeClr val="accent4"/>
                </a:solidFill>
                <a:latin typeface="Bell MT" panose="02020503060305020303" pitchFamily="18" charset="0"/>
              </a:rPr>
              <a:t>MovieMate</a:t>
            </a:r>
            <a:endParaRPr lang="en-IN" b="1" u="sng" dirty="0">
              <a:solidFill>
                <a:schemeClr val="accent4"/>
              </a:solidFill>
              <a:latin typeface="Bell MT" panose="02020503060305020303" pitchFamily="18" charset="0"/>
            </a:endParaRPr>
          </a:p>
        </p:txBody>
      </p:sp>
      <p:pic>
        <p:nvPicPr>
          <p:cNvPr id="1026" name="Picture 2" descr="MOVIE RECOMMENDATION SYSTEM">
            <a:extLst>
              <a:ext uri="{FF2B5EF4-FFF2-40B4-BE49-F238E27FC236}">
                <a16:creationId xmlns:a16="http://schemas.microsoft.com/office/drawing/2014/main" id="{AF2E06FB-2C1A-1DFC-D71B-CDEE3B2BE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953" y="818465"/>
            <a:ext cx="6162322" cy="455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01837C-C044-916A-2EFC-4B47BCCDD2D0}"/>
              </a:ext>
            </a:extLst>
          </p:cNvPr>
          <p:cNvSpPr txBox="1"/>
          <p:nvPr/>
        </p:nvSpPr>
        <p:spPr>
          <a:xfrm>
            <a:off x="415396" y="4853464"/>
            <a:ext cx="447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PARMAR ABHISHRUT MEHULKUMAR</a:t>
            </a:r>
          </a:p>
          <a:p>
            <a:r>
              <a:rPr lang="en-IN" dirty="0"/>
              <a:t>UID: RU230448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BDEF40-2773-0F9D-0382-1433D321B65B}"/>
              </a:ext>
            </a:extLst>
          </p:cNvPr>
          <p:cNvSpPr txBox="1"/>
          <p:nvPr/>
        </p:nvSpPr>
        <p:spPr>
          <a:xfrm>
            <a:off x="415396" y="4114800"/>
            <a:ext cx="4362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Guide: Mr. SP Acharya</a:t>
            </a:r>
          </a:p>
          <a:p>
            <a:r>
              <a:rPr lang="en-IN" dirty="0"/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1334299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46EB2-5DD1-A1DB-32D3-D43ECDB64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-110332"/>
            <a:ext cx="10515600" cy="1325563"/>
          </a:xfrm>
        </p:spPr>
        <p:txBody>
          <a:bodyPr/>
          <a:lstStyle/>
          <a:p>
            <a:r>
              <a:rPr lang="en-IN" b="1" u="sng" dirty="0"/>
              <a:t>What is </a:t>
            </a:r>
            <a:r>
              <a:rPr lang="en-IN" b="1" u="sng" dirty="0" err="1"/>
              <a:t>MovieMate</a:t>
            </a:r>
            <a:r>
              <a:rPr lang="en-IN" b="1" u="sng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B6177-2AA5-7121-DC6F-9C25B3BC9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53331"/>
            <a:ext cx="86360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MovieMate</a:t>
            </a:r>
            <a:r>
              <a:rPr lang="en-US" dirty="0"/>
              <a:t> suggests movies or shows tailored to a user’s preferences, watch history, and ratings, enhancing content discovery.</a:t>
            </a:r>
          </a:p>
          <a:p>
            <a:r>
              <a:rPr lang="en-US" dirty="0"/>
              <a:t>It reduces the time spent browsing large catalogs by offering curated recommendations based on individual tastes.</a:t>
            </a:r>
          </a:p>
          <a:p>
            <a:r>
              <a:rPr lang="en-US" dirty="0"/>
              <a:t>By providing relevant suggestions, it offers a seamless and engaging viewing experience, helping users make quicker decisions.</a:t>
            </a:r>
          </a:p>
          <a:p>
            <a:r>
              <a:rPr lang="en-US" dirty="0"/>
              <a:t>It helps users discover new genres, movies, and series they may have missed, broadening their entertainment horizons.</a:t>
            </a:r>
          </a:p>
          <a:p>
            <a:r>
              <a:rPr lang="en-US" dirty="0"/>
              <a:t>The system adapts over time, learning from user interactions and feedback to improve and refine future recommendations.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797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7485D-98EB-8A53-3CA9-FE4E07A38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3025"/>
            <a:ext cx="10515600" cy="1325563"/>
          </a:xfrm>
        </p:spPr>
        <p:txBody>
          <a:bodyPr/>
          <a:lstStyle/>
          <a:p>
            <a:r>
              <a:rPr lang="en-IN" b="1" u="sng" dirty="0">
                <a:solidFill>
                  <a:srgbClr val="1373B5"/>
                </a:solidFill>
                <a:latin typeface="Bahnschrift" panose="020B0502040204020203" pitchFamily="34" charset="0"/>
              </a:rPr>
              <a:t>How </a:t>
            </a:r>
            <a:r>
              <a:rPr lang="en-IN" b="1" u="sng" dirty="0" err="1">
                <a:solidFill>
                  <a:srgbClr val="1373B5"/>
                </a:solidFill>
                <a:latin typeface="Bahnschrift" panose="020B0502040204020203" pitchFamily="34" charset="0"/>
              </a:rPr>
              <a:t>MovieMate</a:t>
            </a:r>
            <a:r>
              <a:rPr lang="en-IN" b="1" u="sng" dirty="0">
                <a:solidFill>
                  <a:srgbClr val="1373B5"/>
                </a:solidFill>
                <a:latin typeface="Bahnschrift" panose="020B0502040204020203" pitchFamily="34" charset="0"/>
              </a:rPr>
              <a:t> Works: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123B8-5B01-A8E3-AD94-7EBB00807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8875"/>
            <a:ext cx="9153525" cy="5556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The </a:t>
            </a:r>
            <a:r>
              <a:rPr lang="en-IN" dirty="0" err="1"/>
              <a:t>MovieMate</a:t>
            </a:r>
            <a:r>
              <a:rPr lang="en-IN" dirty="0"/>
              <a:t> works basically works on filtering process. There are mainly three types of filtering:</a:t>
            </a:r>
          </a:p>
          <a:p>
            <a:pPr marL="514350" indent="-514350">
              <a:buFont typeface="+mj-lt"/>
              <a:buAutoNum type="arabicPeriod"/>
            </a:pPr>
            <a:r>
              <a:rPr lang="en-IN" u="sng" dirty="0">
                <a:solidFill>
                  <a:srgbClr val="00B0F0"/>
                </a:solidFill>
              </a:rPr>
              <a:t>Content Based Filtering :</a:t>
            </a:r>
            <a:r>
              <a:rPr lang="en-IN" dirty="0">
                <a:solidFill>
                  <a:srgbClr val="00B0F0"/>
                </a:solidFill>
              </a:rPr>
              <a:t> </a:t>
            </a:r>
            <a:r>
              <a:rPr lang="en-US" dirty="0"/>
              <a:t>Recommends movies based on the similarity of content features (e.g., genre, actors) to items the user has previously liked. The one we are using</a:t>
            </a:r>
          </a:p>
          <a:p>
            <a:pPr marL="514350" indent="-514350">
              <a:buFont typeface="+mj-lt"/>
              <a:buAutoNum type="arabicPeriod"/>
            </a:pPr>
            <a:endParaRPr lang="en-US" u="sng" dirty="0">
              <a:solidFill>
                <a:srgbClr val="00B0F0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u="sng" dirty="0">
              <a:solidFill>
                <a:srgbClr val="00B0F0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u="sng" dirty="0">
              <a:solidFill>
                <a:srgbClr val="00B0F0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u="sng" dirty="0">
              <a:solidFill>
                <a:srgbClr val="00B0F0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IN" u="sng" dirty="0">
              <a:solidFill>
                <a:srgbClr val="00B0F0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IN" u="sng" dirty="0">
              <a:solidFill>
                <a:srgbClr val="00B0F0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IN" u="sng" dirty="0"/>
          </a:p>
        </p:txBody>
      </p:sp>
      <p:pic>
        <p:nvPicPr>
          <p:cNvPr id="2050" name="Picture 2" descr="How To Build Content-Based Recommendation System Made Easy">
            <a:extLst>
              <a:ext uri="{FF2B5EF4-FFF2-40B4-BE49-F238E27FC236}">
                <a16:creationId xmlns:a16="http://schemas.microsoft.com/office/drawing/2014/main" id="{BE927EBC-DCF6-0063-38E5-FBD9BAF4F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984" y="3730625"/>
            <a:ext cx="3891844" cy="2189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169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4661-C10B-8BB3-B4BC-48C1E8C29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33350"/>
            <a:ext cx="10515600" cy="6443663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F0"/>
                </a:solidFill>
              </a:rPr>
              <a:t>2. </a:t>
            </a:r>
            <a:r>
              <a:rPr lang="en-IN" u="sng" dirty="0">
                <a:solidFill>
                  <a:srgbClr val="00B0F0"/>
                </a:solidFill>
              </a:rPr>
              <a:t>Collaborative Filtering*:</a:t>
            </a:r>
            <a:r>
              <a:rPr lang="en-IN" dirty="0">
                <a:solidFill>
                  <a:srgbClr val="00B0F0"/>
                </a:solidFill>
              </a:rPr>
              <a:t> </a:t>
            </a:r>
            <a:r>
              <a:rPr lang="en-US" dirty="0"/>
              <a:t>Suggests movies by analyzing the preferences and behaviors of similar users to find common interests.</a:t>
            </a:r>
            <a:r>
              <a:rPr lang="en-IN" u="sng" dirty="0"/>
              <a:t> </a:t>
            </a:r>
          </a:p>
          <a:p>
            <a:pPr marL="0" indent="0">
              <a:buNone/>
            </a:pPr>
            <a:endParaRPr lang="en-IN" u="sng" dirty="0"/>
          </a:p>
          <a:p>
            <a:pPr marL="0" indent="0">
              <a:buNone/>
            </a:pPr>
            <a:endParaRPr lang="en-IN" u="sng" dirty="0"/>
          </a:p>
          <a:p>
            <a:pPr marL="0" indent="0">
              <a:buNone/>
            </a:pPr>
            <a:endParaRPr lang="en-IN" u="sng" dirty="0"/>
          </a:p>
          <a:p>
            <a:pPr marL="0" indent="0">
              <a:buNone/>
            </a:pPr>
            <a:endParaRPr lang="en-IN" u="sng" dirty="0"/>
          </a:p>
          <a:p>
            <a:pPr marL="0" indent="0">
              <a:buNone/>
            </a:pPr>
            <a:endParaRPr lang="en-IN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rgbClr val="00B0F0"/>
                </a:solidFill>
              </a:rPr>
              <a:t>3. </a:t>
            </a:r>
            <a:r>
              <a:rPr lang="en-IN" u="sng" dirty="0">
                <a:solidFill>
                  <a:srgbClr val="00B0F0"/>
                </a:solidFill>
              </a:rPr>
              <a:t>Hybrid Filtering*:</a:t>
            </a:r>
            <a:r>
              <a:rPr lang="en-IN" dirty="0">
                <a:solidFill>
                  <a:srgbClr val="00B0F0"/>
                </a:solidFill>
              </a:rPr>
              <a:t> </a:t>
            </a:r>
            <a:r>
              <a:rPr lang="en-US" dirty="0"/>
              <a:t>Combines both content-based and collaborative filtering approaches to provide more accurate and personalized recommendations.</a:t>
            </a:r>
            <a:endParaRPr lang="en-IN" u="sng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5DC03A-0F9D-6B22-AC30-C4D4E18CB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762" y="1164431"/>
            <a:ext cx="3895725" cy="2190750"/>
          </a:xfrm>
          <a:prstGeom prst="rect">
            <a:avLst/>
          </a:prstGeom>
        </p:spPr>
      </p:pic>
      <p:pic>
        <p:nvPicPr>
          <p:cNvPr id="4104" name="Picture 8" descr="Developing an Intelligent Recommendation System for Non-Information and  Communications Technology Major University Students">
            <a:extLst>
              <a:ext uri="{FF2B5EF4-FFF2-40B4-BE49-F238E27FC236}">
                <a16:creationId xmlns:a16="http://schemas.microsoft.com/office/drawing/2014/main" id="{E9989BE5-DCEE-EE1B-EC24-78E6DF5F3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325" y="4714410"/>
            <a:ext cx="5629275" cy="1958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391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F3F82-4E34-5B2A-4D4A-F25EBA9DD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325563"/>
          </a:xfrm>
        </p:spPr>
        <p:txBody>
          <a:bodyPr/>
          <a:lstStyle/>
          <a:p>
            <a:r>
              <a:rPr lang="en-IN" b="1" u="sng" dirty="0">
                <a:solidFill>
                  <a:srgbClr val="C00000"/>
                </a:solidFill>
              </a:rPr>
              <a:t>Tech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FE465-ADD7-0E83-F34C-DECF72BFD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7" y="1325562"/>
            <a:ext cx="7340600" cy="3914775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b="1" dirty="0"/>
              <a:t> </a:t>
            </a:r>
            <a:r>
              <a:rPr lang="en-IN" b="1" dirty="0">
                <a:solidFill>
                  <a:srgbClr val="C00000"/>
                </a:solidFill>
              </a:rPr>
              <a:t>Frontend </a:t>
            </a:r>
            <a:r>
              <a:rPr lang="en-IN" sz="3600" b="1" dirty="0">
                <a:solidFill>
                  <a:srgbClr val="C00000"/>
                </a:solidFill>
              </a:rPr>
              <a:t>: </a:t>
            </a:r>
            <a:r>
              <a:rPr lang="en-IN" dirty="0"/>
              <a:t>React.js </a:t>
            </a:r>
            <a:r>
              <a:rPr lang="en-US" dirty="0"/>
              <a:t>Used for creating a dynamic, responsive, and interactive user interface with reusable components for better user experience</a:t>
            </a:r>
            <a:r>
              <a:rPr lang="en-US" sz="2400" dirty="0"/>
              <a:t>.</a:t>
            </a:r>
            <a:endParaRPr lang="en-IN" sz="3600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</a:t>
            </a:r>
            <a:r>
              <a:rPr lang="en-IN" b="1" dirty="0">
                <a:solidFill>
                  <a:srgbClr val="C00000"/>
                </a:solidFill>
              </a:rPr>
              <a:t>Backend : </a:t>
            </a:r>
            <a:r>
              <a:rPr lang="en-US" dirty="0"/>
              <a:t>Node.js with Express.js Handles server-side logic, API routes, and user authentication for smooth communication between the client and server</a:t>
            </a:r>
            <a:r>
              <a:rPr lang="en-US" sz="2600" dirty="0"/>
              <a:t>.</a:t>
            </a:r>
            <a:endParaRPr lang="en-IN" sz="2600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rgbClr val="C00000"/>
                </a:solidFill>
              </a:rPr>
              <a:t> Database : </a:t>
            </a:r>
            <a:r>
              <a:rPr lang="en-IN" dirty="0"/>
              <a:t>MongoDB </a:t>
            </a:r>
            <a:r>
              <a:rPr lang="en-US" dirty="0"/>
              <a:t>A NoSQL database to store user data, movie metadata, and user reviews, providing flexibility and scalability</a:t>
            </a:r>
            <a:r>
              <a:rPr lang="en-US" sz="3100" dirty="0"/>
              <a:t>.</a:t>
            </a:r>
            <a:endParaRPr lang="en-IN" sz="3100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rgbClr val="C00000"/>
                </a:solidFill>
              </a:rPr>
              <a:t> Machine Learning</a:t>
            </a:r>
            <a:r>
              <a:rPr lang="en-IN" sz="3600" b="1" dirty="0">
                <a:solidFill>
                  <a:srgbClr val="C00000"/>
                </a:solidFill>
              </a:rPr>
              <a:t> : </a:t>
            </a:r>
            <a:r>
              <a:rPr lang="en-IN" sz="3100" dirty="0"/>
              <a:t>Python(Scikit-Learn/NLTK/Flask) </a:t>
            </a:r>
            <a:r>
              <a:rPr lang="en-US" dirty="0"/>
              <a:t>Implements machine learning models for content-based and collaborative filtering</a:t>
            </a:r>
            <a:r>
              <a:rPr lang="en-US" sz="2400" dirty="0"/>
              <a:t>.</a:t>
            </a:r>
            <a:endParaRPr lang="en-IN" sz="3600" dirty="0"/>
          </a:p>
        </p:txBody>
      </p:sp>
      <p:pic>
        <p:nvPicPr>
          <p:cNvPr id="7170" name="Picture 2" descr="Easiest way to setup a MERN Stack application | by Vaibhav Shukla | Dev  Genius">
            <a:extLst>
              <a:ext uri="{FF2B5EF4-FFF2-40B4-BE49-F238E27FC236}">
                <a16:creationId xmlns:a16="http://schemas.microsoft.com/office/drawing/2014/main" id="{673E9B5B-264B-8EDA-83A8-266A904FB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74" y="1354732"/>
            <a:ext cx="4200526" cy="134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scikit-learn - NumFOCUS">
            <a:extLst>
              <a:ext uri="{FF2B5EF4-FFF2-40B4-BE49-F238E27FC236}">
                <a16:creationId xmlns:a16="http://schemas.microsoft.com/office/drawing/2014/main" id="{B2D5981F-5D9A-D3E1-340E-14C1092A3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2630" y="2729494"/>
            <a:ext cx="2314576" cy="231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416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9AD5C-BE79-3D1E-0EF2-7060121EB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748" y="-248569"/>
            <a:ext cx="4810125" cy="1325563"/>
          </a:xfrm>
        </p:spPr>
        <p:txBody>
          <a:bodyPr/>
          <a:lstStyle/>
          <a:p>
            <a:r>
              <a:rPr lang="en-IN" b="1" u="sng" dirty="0"/>
              <a:t>System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936CC0-1AE0-EE40-E65B-30E151228566}"/>
              </a:ext>
            </a:extLst>
          </p:cNvPr>
          <p:cNvSpPr txBox="1"/>
          <p:nvPr/>
        </p:nvSpPr>
        <p:spPr>
          <a:xfrm>
            <a:off x="1016794" y="986369"/>
            <a:ext cx="1414463" cy="461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/>
              <a:t>Raw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9CEA0B-F632-51D4-1D39-7032F0BD4343}"/>
              </a:ext>
            </a:extLst>
          </p:cNvPr>
          <p:cNvSpPr txBox="1"/>
          <p:nvPr/>
        </p:nvSpPr>
        <p:spPr>
          <a:xfrm>
            <a:off x="8722441" y="617037"/>
            <a:ext cx="2058725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 dirty="0"/>
              <a:t>Data Preprocessing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B896F-6E0C-8638-45EB-B7F315F97A8C}"/>
              </a:ext>
            </a:extLst>
          </p:cNvPr>
          <p:cNvSpPr txBox="1"/>
          <p:nvPr/>
        </p:nvSpPr>
        <p:spPr>
          <a:xfrm>
            <a:off x="7117514" y="5681988"/>
            <a:ext cx="2057400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/>
              <a:t>Model Building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8EC682-0EAC-68FE-9C78-1A66571718B8}"/>
              </a:ext>
            </a:extLst>
          </p:cNvPr>
          <p:cNvSpPr txBox="1"/>
          <p:nvPr/>
        </p:nvSpPr>
        <p:spPr>
          <a:xfrm>
            <a:off x="14615517" y="7404595"/>
            <a:ext cx="569759" cy="15696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2400" dirty="0"/>
              <a:t>Website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DF749CC-497F-100D-6A2B-1C74E02CC900}"/>
              </a:ext>
            </a:extLst>
          </p:cNvPr>
          <p:cNvSpPr txBox="1"/>
          <p:nvPr/>
        </p:nvSpPr>
        <p:spPr>
          <a:xfrm>
            <a:off x="4099156" y="1757328"/>
            <a:ext cx="22383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accent2">
                    <a:lumMod val="75000"/>
                  </a:schemeClr>
                </a:solidFill>
              </a:rPr>
              <a:t>Data can contain various problems which needs to be processed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9A48C5-813A-A2D0-A4D4-6A177EFA1BBE}"/>
              </a:ext>
            </a:extLst>
          </p:cNvPr>
          <p:cNvSpPr txBox="1"/>
          <p:nvPr/>
        </p:nvSpPr>
        <p:spPr>
          <a:xfrm>
            <a:off x="10229851" y="4286460"/>
            <a:ext cx="140017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accent2">
                    <a:lumMod val="75000"/>
                  </a:schemeClr>
                </a:solidFill>
              </a:rPr>
              <a:t>Creating   a ML model to get it    ready for work 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877073B-20BE-4E72-0E83-5514455E8814}"/>
              </a:ext>
            </a:extLst>
          </p:cNvPr>
          <p:cNvCxnSpPr>
            <a:cxnSpLocks/>
          </p:cNvCxnSpPr>
          <p:nvPr/>
        </p:nvCxnSpPr>
        <p:spPr>
          <a:xfrm>
            <a:off x="3055441" y="2155274"/>
            <a:ext cx="4535984" cy="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CA48166-7993-92F4-1B48-8C7CE8F45432}"/>
              </a:ext>
            </a:extLst>
          </p:cNvPr>
          <p:cNvSpPr txBox="1"/>
          <p:nvPr/>
        </p:nvSpPr>
        <p:spPr>
          <a:xfrm>
            <a:off x="3917162" y="5497322"/>
            <a:ext cx="195678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accent2">
                    <a:lumMod val="75000"/>
                  </a:schemeClr>
                </a:solidFill>
              </a:rPr>
              <a:t>The desired output to be showed on UI</a:t>
            </a:r>
          </a:p>
        </p:txBody>
      </p:sp>
      <p:pic>
        <p:nvPicPr>
          <p:cNvPr id="8194" name="Picture 2" descr="What is Raw Data? Definition, Examples, &amp; Processing Steps">
            <a:extLst>
              <a:ext uri="{FF2B5EF4-FFF2-40B4-BE49-F238E27FC236}">
                <a16:creationId xmlns:a16="http://schemas.microsoft.com/office/drawing/2014/main" id="{19E3099E-BB14-159D-6961-D1B121495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22" y="1448034"/>
            <a:ext cx="2705100" cy="202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What is Data Processing? | OVHcloud Worldwide">
            <a:extLst>
              <a:ext uri="{FF2B5EF4-FFF2-40B4-BE49-F238E27FC236}">
                <a16:creationId xmlns:a16="http://schemas.microsoft.com/office/drawing/2014/main" id="{4F64DA6C-BA9E-599E-7742-2BED667C2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631" y="1448034"/>
            <a:ext cx="4389847" cy="250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Building Machine Learning Models Overview | Krasamo">
            <a:extLst>
              <a:ext uri="{FF2B5EF4-FFF2-40B4-BE49-F238E27FC236}">
                <a16:creationId xmlns:a16="http://schemas.microsoft.com/office/drawing/2014/main" id="{F6D35A3F-087F-CBAD-82B7-5B2635F91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473" y="5224949"/>
            <a:ext cx="2759516" cy="183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438C5D8-EEFE-157F-C407-86723BBE6A5D}"/>
              </a:ext>
            </a:extLst>
          </p:cNvPr>
          <p:cNvCxnSpPr/>
          <p:nvPr/>
        </p:nvCxnSpPr>
        <p:spPr>
          <a:xfrm>
            <a:off x="10248900" y="3948679"/>
            <a:ext cx="0" cy="1276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FC72CF8C-42D4-D263-6739-85134884E899}"/>
              </a:ext>
            </a:extLst>
          </p:cNvPr>
          <p:cNvSpPr txBox="1"/>
          <p:nvPr/>
        </p:nvSpPr>
        <p:spPr>
          <a:xfrm>
            <a:off x="1262061" y="4427953"/>
            <a:ext cx="1362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Website</a:t>
            </a:r>
          </a:p>
        </p:txBody>
      </p:sp>
      <p:pic>
        <p:nvPicPr>
          <p:cNvPr id="8200" name="Picture 8" descr="Importance of website : 19 stats for ...">
            <a:extLst>
              <a:ext uri="{FF2B5EF4-FFF2-40B4-BE49-F238E27FC236}">
                <a16:creationId xmlns:a16="http://schemas.microsoft.com/office/drawing/2014/main" id="{973EE968-1D0C-96B8-9BCD-92939DF85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4983529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05D0798-8F6A-44F5-3E0F-72E1D56E3959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3514725" y="5912820"/>
            <a:ext cx="360278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59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1800E-42FC-CE80-7A6F-88F471B64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65" y="0"/>
            <a:ext cx="10608910" cy="1354212"/>
          </a:xfrm>
        </p:spPr>
        <p:txBody>
          <a:bodyPr>
            <a:noAutofit/>
          </a:bodyPr>
          <a:lstStyle/>
          <a:p>
            <a:r>
              <a:rPr lang="en-IN" sz="4000" b="1" u="sng" dirty="0">
                <a:solidFill>
                  <a:srgbClr val="002060"/>
                </a:solidFill>
              </a:rPr>
              <a:t>Enhanced Features and Future Implementations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264A3-23EF-B685-B035-198167E26BE1}"/>
              </a:ext>
            </a:extLst>
          </p:cNvPr>
          <p:cNvSpPr txBox="1"/>
          <p:nvPr/>
        </p:nvSpPr>
        <p:spPr>
          <a:xfrm>
            <a:off x="428625" y="1068462"/>
            <a:ext cx="1045845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Voice Assistant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Functionality</a:t>
            </a:r>
            <a:r>
              <a:rPr lang="en-US" dirty="0"/>
              <a:t>: Allows users to search for movies, control playback, or get recommendations using voice commands.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Technology</a:t>
            </a:r>
            <a:r>
              <a:rPr lang="en-US" dirty="0"/>
              <a:t>: Use </a:t>
            </a:r>
            <a:r>
              <a:rPr lang="en-US" b="1" dirty="0"/>
              <a:t>Web Speech API</a:t>
            </a:r>
            <a:r>
              <a:rPr lang="en-US" dirty="0"/>
              <a:t> for browser-based apps or </a:t>
            </a:r>
            <a:r>
              <a:rPr lang="en-US" b="1" dirty="0"/>
              <a:t>Speech Recognition API</a:t>
            </a:r>
            <a:r>
              <a:rPr lang="en-US" dirty="0"/>
              <a:t> in Python for backend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 Experience</a:t>
            </a:r>
            <a:r>
              <a:rPr lang="en-US" dirty="0"/>
              <a:t>: Improves accessibility and provides a hands-free, seamless interaction.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2">
                    <a:lumMod val="50000"/>
                  </a:schemeClr>
                </a:solidFill>
              </a:rPr>
              <a:t>Mood-Based Recommendation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Functionality</a:t>
            </a:r>
            <a:r>
              <a:rPr lang="en-US" dirty="0"/>
              <a:t>: Recommends movies based on the user’s current mood (e.g., happy, sad, adventurous).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Technology</a:t>
            </a:r>
            <a:r>
              <a:rPr lang="en-US" dirty="0"/>
              <a:t>: Utilize </a:t>
            </a:r>
            <a:r>
              <a:rPr lang="en-US" b="1" dirty="0"/>
              <a:t>NLP and sentiment analysis</a:t>
            </a:r>
            <a:r>
              <a:rPr lang="en-US" dirty="0"/>
              <a:t> on user inputs or past review data. Integrate </a:t>
            </a:r>
            <a:r>
              <a:rPr lang="en-US" b="1" dirty="0"/>
              <a:t>wearable device APIs or facial expression detection (optional)</a:t>
            </a:r>
            <a:r>
              <a:rPr lang="en-US" dirty="0"/>
              <a:t> for advanced mood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 Experience</a:t>
            </a:r>
            <a:r>
              <a:rPr lang="en-US" dirty="0"/>
              <a:t>: Enhances personalization by aligning content with the user’s emotional state.</a:t>
            </a:r>
          </a:p>
          <a:p>
            <a:r>
              <a:rPr lang="en-US" dirty="0"/>
              <a:t>These features not only make your system </a:t>
            </a:r>
            <a:r>
              <a:rPr lang="en-US" b="1" dirty="0"/>
              <a:t>innovative and user-friendly</a:t>
            </a:r>
            <a:r>
              <a:rPr lang="en-US" dirty="0"/>
              <a:t> but also stand out in terms of personalization and accessibility.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5459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82745-D363-EDE2-7C66-BF420D961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599" y="184150"/>
            <a:ext cx="6600825" cy="1325563"/>
          </a:xfrm>
        </p:spPr>
        <p:txBody>
          <a:bodyPr>
            <a:normAutofit/>
          </a:bodyPr>
          <a:lstStyle/>
          <a:p>
            <a:r>
              <a:rPr lang="en-IN" b="1" u="sng" dirty="0">
                <a:solidFill>
                  <a:srgbClr val="002060"/>
                </a:solidFill>
              </a:rPr>
              <a:t>Expanding Beyond Movies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B972DDE-2544-DBA7-DE0A-940D44147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2" y="1509713"/>
            <a:ext cx="11039475" cy="4385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Books and E-Books: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recommendations for novels, self-help, and educational content based on genres, authors, and user preferences.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Podcasts and Audio Content: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Suggests podcasts and audio shows related to users' favorite topics, aligning with their listening history and interests.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Series and TV Shows: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Recommends binge-worthy series from popular platforms using mood-based and collaborative filtering approaches.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diversification creates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one-stop content recommendation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enriching the user experience across multiple media formats.</a:t>
            </a:r>
          </a:p>
        </p:txBody>
      </p:sp>
    </p:spTree>
    <p:extLst>
      <p:ext uri="{BB962C8B-B14F-4D97-AF65-F5344CB8AC3E}">
        <p14:creationId xmlns:p14="http://schemas.microsoft.com/office/powerpoint/2010/main" val="3303340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6" name="Picture 10" descr="Happy Homer Meme Generator">
            <a:extLst>
              <a:ext uri="{FF2B5EF4-FFF2-40B4-BE49-F238E27FC236}">
                <a16:creationId xmlns:a16="http://schemas.microsoft.com/office/drawing/2014/main" id="{4C7642D5-A564-D8E3-8732-D27D761E4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475" y="1504950"/>
            <a:ext cx="5646964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90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264</TotalTime>
  <Words>591</Words>
  <Application>Microsoft Office PowerPoint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Bahnschrift</vt:lpstr>
      <vt:lpstr>Bell MT</vt:lpstr>
      <vt:lpstr>Calibri</vt:lpstr>
      <vt:lpstr>Calibri Light</vt:lpstr>
      <vt:lpstr>Wingdings</vt:lpstr>
      <vt:lpstr>Office Theme</vt:lpstr>
      <vt:lpstr>MovieMate</vt:lpstr>
      <vt:lpstr>What is MovieMate?</vt:lpstr>
      <vt:lpstr>How MovieMate Works:</vt:lpstr>
      <vt:lpstr>PowerPoint Presentation</vt:lpstr>
      <vt:lpstr>Tech STACK</vt:lpstr>
      <vt:lpstr>System Architecture</vt:lpstr>
      <vt:lpstr>Enhanced Features and Future Implementations </vt:lpstr>
      <vt:lpstr>Expanding Beyond Movies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parmarabhishrut@gmail.com</dc:creator>
  <cp:lastModifiedBy>parmarabhishrut@gmail.com</cp:lastModifiedBy>
  <cp:revision>4</cp:revision>
  <dcterms:created xsi:type="dcterms:W3CDTF">2025-01-20T14:13:09Z</dcterms:created>
  <dcterms:modified xsi:type="dcterms:W3CDTF">2025-04-10T23:25:00Z</dcterms:modified>
</cp:coreProperties>
</file>